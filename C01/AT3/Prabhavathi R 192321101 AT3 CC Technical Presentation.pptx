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png" /><Relationship Id="rId5" Type="http://schemas.openxmlformats.org/officeDocument/2006/relationships/image" Target="../media/image6.png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 /><Relationship Id="rId7" Type="http://schemas.openxmlformats.org/officeDocument/2006/relationships/image" Target="../media/image15.pn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4.png" /><Relationship Id="rId5" Type="http://schemas.openxmlformats.org/officeDocument/2006/relationships/image" Target="../media/image13.png" /><Relationship Id="rId4" Type="http://schemas.openxmlformats.org/officeDocument/2006/relationships/image" Target="../media/image12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00200" y="2718494"/>
            <a:ext cx="8661082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sz="4800" b="1" i="0" u="none">
                <a:solidFill>
                  <a:srgbClr val="002D72"/>
                </a:solidFill>
                <a:latin typeface="Merriweather"/>
              </a:rPr>
              <a:t>Cloud Storage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3678584"/>
            <a:ext cx="684847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sz="1800" b="0" i="0" u="none">
                <a:solidFill>
                  <a:srgbClr val="475569"/>
                </a:solidFill>
                <a:latin typeface="Open Sans"/>
              </a:rPr>
              <a:t>An Analytical Comparison of Object, Block, and File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36310" y="4601497"/>
            <a:ext cx="4021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DONE BY:</a:t>
            </a:r>
          </a:p>
          <a:p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</a:rPr>
              <a:t>PRABHAVATHI R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1923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</a:rPr>
              <a:t>21101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7703" y="562332"/>
            <a:ext cx="3716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CSA151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</a:rPr>
              <a:t>0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CLOUD COMPUTING</a:t>
            </a:r>
            <a:endParaRPr lang="en-IN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28650"/>
            <a:ext cx="52006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>
                <a:solidFill>
                  <a:srgbClr val="002D72"/>
                </a:solidFill>
                <a:latin typeface="Merriweather"/>
              </a:rPr>
              <a:t>The Data Deluge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813520"/>
            <a:ext cx="4953000" cy="141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0" i="0" u="none" dirty="0">
                <a:solidFill>
                  <a:srgbClr val="334155"/>
                </a:solidFill>
                <a:latin typeface="Open Sans"/>
              </a:rPr>
              <a:t>The digital universe is expanding at an unprecedented rate. To handle massive data ingestion, rendering, and processing, cloud providers have engineered highly specific storage architectures.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897" y="3429000"/>
            <a:ext cx="4953000" cy="141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000" b="0" i="0" u="none" dirty="0">
                <a:solidFill>
                  <a:srgbClr val="334155"/>
                </a:solidFill>
                <a:latin typeface="Open Sans"/>
              </a:rPr>
              <a:t>Choosing the right architecture is a critical business multiplier that dictates application performance, scalability limitations, and overall infrastructure capital expenditure.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17206"/>
            <a:ext cx="6667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65002"/>
            <a:ext cx="3429000" cy="34708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2165002"/>
            <a:ext cx="3429000" cy="34708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2165002"/>
            <a:ext cx="3429000" cy="34708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5002"/>
            <a:ext cx="3429000" cy="1905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2165002"/>
            <a:ext cx="3429000" cy="1905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165002"/>
            <a:ext cx="3429000" cy="190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The Three Pillars of Cloud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260502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pen Sans"/>
              </a:rPr>
              <a:t>Block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660552"/>
            <a:ext cx="3429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 dirty="0">
                <a:solidFill>
                  <a:srgbClr val="334155"/>
                </a:solidFill>
                <a:latin typeface="Open Sans"/>
              </a:rPr>
              <a:t>Raw volumes split into fixed-size blocks. Engineered for absolute maximum speed and IOPS.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4260502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pen Sans"/>
              </a:rPr>
              <a:t>File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1500" y="4660552"/>
            <a:ext cx="3429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 dirty="0">
                <a:solidFill>
                  <a:srgbClr val="334155"/>
                </a:solidFill>
                <a:latin typeface="Open Sans"/>
              </a:rPr>
              <a:t>Hierarchical structure. Built for network sharing, concurrency, and human readability.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0" y="4260502"/>
            <a:ext cx="3600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Open Sans"/>
              </a:rPr>
              <a:t>Object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0" y="4660552"/>
            <a:ext cx="3429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600" b="0" i="0" u="none" dirty="0">
                <a:solidFill>
                  <a:srgbClr val="334155"/>
                </a:solidFill>
                <a:latin typeface="Open Sans"/>
              </a:rPr>
              <a:t>Flat namespace with rich metadata. Designed for infinite horizontal scale via HTTP APIs.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74527"/>
            <a:ext cx="3409950" cy="1885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025" y="2174527"/>
            <a:ext cx="3409950" cy="18859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025" y="2174527"/>
            <a:ext cx="3409950" cy="1885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900237"/>
            <a:ext cx="5238750" cy="4000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Architecture: Block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1909762"/>
            <a:ext cx="5219700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4875" y="17668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Direct Attachment: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Operates like a physical hard drive (SAN) attached directly to a single compute instance (VM).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9098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Chunking Data: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Files are broken down into evenly sized blocks, each with a unique identifier, with no metadata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0528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Low Latency Paths: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Lacking OS overhead for file systems, data retrieval is incredibly fast, allowing for sub-millisecond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5195887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OS Formatting: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The guest operating system mounts the block volume and formats it (e.g., ext4, NTFS).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8049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9479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0909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52339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31702"/>
            <a:ext cx="3492549" cy="29374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431702"/>
            <a:ext cx="3492549" cy="29374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431702"/>
            <a:ext cx="3492549" cy="29374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Block Storage: Primary Workloads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6775" y="3603277"/>
            <a:ext cx="30470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pen Sans"/>
              </a:rPr>
              <a:t>Transactional Databases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00332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Relational databases (SQL, Oracle) demand the high IOPS and low latency that only block provides.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603277"/>
            <a:ext cx="30470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pen Sans"/>
              </a:rPr>
              <a:t>Boot Volumes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400332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Virtual machines require block storage to boot operating systems rapidly in cloud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3374" y="3603277"/>
            <a:ext cx="304709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Open Sans"/>
              </a:rPr>
              <a:t>Mission Critical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4003327"/>
            <a:ext cx="29019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Open Sans"/>
              </a:rPr>
              <a:t>Enterprise applications requiring strict performance SLAs leverage dedicated IOPS block volumes.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27002"/>
            <a:ext cx="333375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927002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927002"/>
            <a:ext cx="33337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Architecture: File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4875" y="1919287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Hierarchical Tree: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Data is organized into a rigid structure of directories, folders, and sub-folders.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2757487"/>
            <a:ext cx="4905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Network Access: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Attached over a network (NAS) rather than directly to the motherboard interface.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35956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Standard Protocols: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Utilizes standard protocols like NFS (Network File System) or SMB (Server Message Block).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738687"/>
            <a:ext cx="4905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Open Sans"/>
              </a:rPr>
              <a:t>Multi-Instance Concurrency:</a:t>
            </a:r>
            <a:r>
              <a:rPr sz="1500" b="0" i="0" u="none">
                <a:solidFill>
                  <a:srgbClr val="334155"/>
                </a:solidFill>
                <a:latin typeface="Open Sans"/>
              </a:rPr>
              <a:t> Allows thousands of virtual machines to read/write simultaneously with file locking.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9573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7955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6337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76787"/>
            <a:ext cx="762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002D72"/>
                </a:solidFill>
                <a:latin typeface="Open Sans"/>
              </a:rPr>
              <a:t>■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14300"/>
            <a:ext cx="6362700" cy="6734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628650"/>
            <a:ext cx="5200650" cy="895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Architecture: Object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722364"/>
            <a:ext cx="4953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The Flat Namespace: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Object storage abandons the complex hierarchy of file storage and the raw chunks of block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23344"/>
            <a:ext cx="4953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334155"/>
                </a:solidFill>
                <a:latin typeface="Open Sans"/>
              </a:rPr>
              <a:t>Data is bundled with extensive, customizable metadata and a globally unique identifier, dropped into a massive, flat bucket.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398615"/>
            <a:ext cx="4953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Open Sans"/>
              </a:rPr>
              <a:t>API-Driven:</a:t>
            </a:r>
            <a:r>
              <a:rPr sz="1350" b="0" i="0" u="none">
                <a:solidFill>
                  <a:srgbClr val="334155"/>
                </a:solidFill>
                <a:latin typeface="Open Sans"/>
              </a:rPr>
              <a:t> It is not mounted by an OS. Applications retrieve objects directly over the internet using standard HTTP REST APIs (GET, PUT, DELETE), enabling virtually infinite scalability.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Architectural Comparison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901279"/>
          <a:ext cx="11039473" cy="399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0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4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9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Block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File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Open Sans"/>
                        </a:rPr>
                        <a:t>Object 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Raw volumes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Hierarchical (Tree)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Flat (Buckets)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Metadata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None (OS dependent)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Limited (Creation date)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Rich &amp; Customizable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Accessibility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Single attached instance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Network shared (NFS)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HTTP/REST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402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Updates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Edit partial blocks directly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Edit file components directly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Overwrite entire 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406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Open Sans"/>
                        </a:rPr>
                        <a:t>Primary Driver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Absolute Performance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Shared Accessibility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Open Sans"/>
                        </a:rPr>
                        <a:t>Infinite Scalability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2561332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626965" y="2561332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21238" y="2561332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86676" y="2561332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226147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26965" y="3226147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21238" y="3226147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86676" y="3226147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3890962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26965" y="3890962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21238" y="3890962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86676" y="3890962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262" y="4555777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26965" y="4555777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1238" y="4555777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6676" y="4555777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6262" y="5220592"/>
            <a:ext cx="20507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26965" y="5220592"/>
            <a:ext cx="29942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21238" y="5220592"/>
            <a:ext cx="3265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886676" y="5220592"/>
            <a:ext cx="27290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11049000" cy="49625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The Catalyst for Object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5593109"/>
            <a:ext cx="11049000" cy="55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1" u="none">
                <a:solidFill>
                  <a:srgbClr val="334155"/>
                </a:solidFill>
                <a:latin typeface="Open Sans"/>
              </a:rPr>
              <a:t>The massive proliferation of unstructured data cannot be cost-effectively managed by Block or File architectures, cementing Object storage as the modern standard.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402609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9225"/>
            <a:ext cx="11049000" cy="49625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71500" y="5334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02D72"/>
                </a:solidFill>
                <a:latin typeface="Merriweather"/>
              </a:rPr>
              <a:t>Cost Efficiency vs Scalability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123950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4773959"/>
            <a:ext cx="11049000" cy="558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1" u="none">
                <a:solidFill>
                  <a:srgbClr val="334155"/>
                </a:solidFill>
                <a:latin typeface="Open Sans"/>
              </a:rPr>
              <a:t>While Block storage is essential for high-speed computation, its cost per GB makes it prohibitive for deep archiving. Object storage provides the economics for mass retention.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583459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"/>
            <a:ext cx="12192000" cy="6743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768975" y="2905780"/>
            <a:ext cx="3620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002060"/>
                </a:solidFill>
                <a:latin typeface="Arial Black" panose="020B0A04020102020204" pitchFamily="34" charset="0"/>
              </a:rPr>
              <a:t>THANK YOU!</a:t>
            </a:r>
            <a:endParaRPr lang="en-US" sz="2800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3484</Words>
  <Application>Microsoft Office PowerPoint</Application>
  <PresentationFormat>Widescreen</PresentationFormat>
  <Paragraphs>149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dc:description>generated using python-pptx</dc:description>
  <cp:lastModifiedBy>prabha02102005@gmail.com</cp:lastModifiedBy>
  <cp:revision>9</cp:revision>
  <dcterms:created xsi:type="dcterms:W3CDTF">2013-01-27T09:14:00Z</dcterms:created>
  <dcterms:modified xsi:type="dcterms:W3CDTF">2026-07-22T15:43:38Z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F68FC99826564BD99B529C2240DA0468_13</vt:lpwstr>
  </property>
  <property fmtid="{D5CDD505-2E9C-101B-9397-08002B2CF9AE}" pid="3" name="KSOProductBuildVer">
    <vt:lpwstr>1033-12.1.0.27458</vt:lpwstr>
  </property>
</Properties>
</file>